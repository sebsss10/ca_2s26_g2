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13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21F33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023360" cy="4023360"/>
          </a:xfrm>
          <a:prstGeom prst="ellipse">
            <a:avLst/>
          </a:prstGeom>
          <a:solidFill>
            <a:srgbClr val="121F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EN CIBERSEGURIDAD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Estafas Digitales y Phishing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reconocerlas, prevenirlas y actuar a tiempo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5074920"/>
            <a:ext cx="384048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303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estafadores no necesitan que seas ingenuo;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que actúes antes de pensar."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y equipo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51525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31343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459736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Introducción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y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fundamentos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71600" y="2843784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8218" y="2057400"/>
            <a:ext cx="351525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4250" y="231343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425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252618" y="2834640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19237" y="2057400"/>
            <a:ext cx="351525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5269" y="231343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75269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60485" y="2478024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Tipos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phishing y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casos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reales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33637" y="2834640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51525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00507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85316" y="4044696"/>
            <a:ext cx="2417978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Contraseñas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MFA,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soporte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técnico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 IA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371600" y="4634484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38218" y="3749040"/>
            <a:ext cx="351525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4250" y="400507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9425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2618" y="415290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Candado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HTTPS,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prevención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y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qué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hacer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252618" y="4564380"/>
            <a:ext cx="2417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19237" y="3749040"/>
            <a:ext cx="3515258" cy="1463040"/>
          </a:xfrm>
          <a:prstGeom prst="roundRect">
            <a:avLst>
              <a:gd name="adj" fmla="val 3750"/>
            </a:avLst>
          </a:prstGeom>
          <a:solidFill>
            <a:srgbClr val="EFF1F4"/>
          </a:solidFill>
          <a:ln w="19050">
            <a:solidFill>
              <a:srgbClr val="C7CCD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475269" y="4005072"/>
            <a:ext cx="502920" cy="50292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75269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147353" y="414223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Cierre de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presentacion</a:t>
            </a:r>
            <a:r>
              <a:rPr lang="en-US" sz="1600" b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333CBA64-E455-4727-B213-5F3509E63E93}"/>
              </a:ext>
            </a:extLst>
          </p:cNvPr>
          <p:cNvSpPr txBox="1"/>
          <p:nvPr/>
        </p:nvSpPr>
        <p:spPr>
          <a:xfrm>
            <a:off x="5206898" y="2514600"/>
            <a:ext cx="28568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Ingeniería social y </a:t>
            </a:r>
          </a:p>
          <a:p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por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qué</a:t>
            </a:r>
            <a:r>
              <a:rPr lang="en-US" sz="1600" b="1" dirty="0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A2A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caemos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son las estafas digitales?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Engaños realizados mediante dispositivos tecnológicos, Internet o plataformas digitales.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un beneficio de la víctima: dinero, contraseñas, datos bancarios, información personal, acceso a cuentas, fotos o archivos, información empresarial o acceso a dispositivos.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principal: el atacante busca que la propia víctima realice una acción que lo favorezca.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mensaje que aparenta venir del banco lleva a un enlace donde la víctima entrega sus credenciales sin darse cuenta.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phishing?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ingeniería social para engañar a una persona haciéndose pasar por una entidad, empresa o persona legítima.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credenciales, información personal o financiera, códigos de autenticación, acceso a cuentas, que la víctima descargue malware o realice un pago.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viene de la analogía con la pesca (fishing): el atacante coloca un anzuelo y espera que alguien muerda.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anzuelo puede ser un correo, SMS, WhatsApp, una publicación, un mensaje privado, una llamada, una página falsa o un código QR.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phishing no es solo "correo falso": el correo es apenas uno de los medios posibles.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un ataque de phishing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2104" y="2258568"/>
            <a:ext cx="0" cy="329184"/>
          </a:xfrm>
          <a:prstGeom prst="line">
            <a:avLst/>
          </a:prstGeom>
          <a:noFill/>
          <a:ln w="19050">
            <a:solidFill>
              <a:srgbClr val="D8DEE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371600" y="1664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contacto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645920"/>
            <a:ext cx="7025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busca la atención de la víctima ("detectamos actividad sospechosa", "tu paquete no pudo ser entregado").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2104" y="3154680"/>
            <a:ext cx="0" cy="329184"/>
          </a:xfrm>
          <a:prstGeom prst="line">
            <a:avLst/>
          </a:prstGeom>
          <a:noFill/>
          <a:ln w="19050">
            <a:solidFill>
              <a:srgbClr val="D8DEE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137160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confianza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42032"/>
            <a:ext cx="7025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Aparenta ser legítimo con logotipos, colores corporativos, firmas o lenguaje profesional.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2104" y="4050792"/>
            <a:ext cx="0" cy="329184"/>
          </a:xfrm>
          <a:prstGeom prst="line">
            <a:avLst/>
          </a:prstGeom>
          <a:noFill/>
          <a:ln w="19050">
            <a:solidFill>
              <a:srgbClr val="D8DEE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1371600" y="3456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una emoción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438144"/>
            <a:ext cx="7025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Miedo, urgencia, curiosidad, avaricia, confianza o autoridad, para que la víctima actúe antes de pensar.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32104" y="4946904"/>
            <a:ext cx="0" cy="329184"/>
          </a:xfrm>
          <a:prstGeom prst="line">
            <a:avLst/>
          </a:prstGeom>
          <a:noFill/>
          <a:ln w="19050">
            <a:solidFill>
              <a:srgbClr val="D8DEE6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371600" y="43525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Solicitar una acción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4334256"/>
            <a:ext cx="7025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 enlace, ingresar contraseña, descargar un archivo, enviar dinero o escanear un QR.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248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Obtener el beneficio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5230368"/>
            <a:ext cx="7025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logra el acceso, las credenciales, el dinero, o infecta el dispositivo.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Estafas de premios y de empleo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Premios: exigen un pago previo ("gastos administrativos", "impuestos", "seguro") para liberar un premio o lotería inexistente.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Empleo: aprovechan la necesidad económica ofreciendo altos salarios por tareas sencillas desde casa.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 un pago inicial para "activar la cuenta", "comprar el kit de trabajo" o "capacitaciones".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si debes pagar dinero para recibir un premio o empleo que no solicitaste, es una estafa.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social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en manipular psicológicamente a una persona para conseguir información, acceso o alguna acción.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atacar directamente una computadora, el atacante manipula al usuario.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contextualización: un atacante investiga en redes sociales a un estudiante, descubre su universidad, carrera y profesor.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envía un mensaje creíble: "Estimado estudiante de Ingeniería, su profesor ha solicitado que complete este formulario..."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parece legítimo porque contiene datos reales recopilados de fuentes abiertas.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caemos en el phishing?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ataques no funcionan por ingenuidad de la víctima, sino porque explotan comportamientos humanos automáticos.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54573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8346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36392"/>
            <a:ext cx="3088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Inclinación a confiar en marcas o logotipos conocidos.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978" y="2148840"/>
            <a:ext cx="354573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1578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1578" y="28346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Urgencia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51578" y="3136392"/>
            <a:ext cx="3088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sesgo de tiempo limita la verificación racional ("cuenta eliminada en 10 minutos").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8757" y="2148840"/>
            <a:ext cx="354573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7357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7357" y="28346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Miedo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7357" y="3136392"/>
            <a:ext cx="3088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impulsiva ante amenazas financieras o legales.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54573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41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52628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28032"/>
            <a:ext cx="3088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de contenido morboso o personal.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2978" y="3840480"/>
            <a:ext cx="354573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1578" y="4041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1578" y="452628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551578" y="4828032"/>
            <a:ext cx="3088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Condicionamiento a obedecer órdenes institucionales.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8757" y="3840480"/>
            <a:ext cx="3545738" cy="1463040"/>
          </a:xfrm>
          <a:prstGeom prst="roundRect">
            <a:avLst>
              <a:gd name="adj" fmla="val 375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7357" y="4041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7357" y="452628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417357" y="4828032"/>
            <a:ext cx="3088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ganancia rápida ante premios o descuentos.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que un mensaje podría ser phishing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necesario observar las señales en conjunto, no una sola aislada.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extrema: presión de tiempo e hiperbolización del riesgo.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información sensible: contraseñas, PIN, CVV o códigos OTP.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sospechosos: dominios alterados con typosquatting, por ejemplo banco-seguridad.com o banco.com.verificacion-falsa.com en lugar de banco.com.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Incongruencias en el texto: errores gramaticales o redacción automatizada (la IA ha reducido estas fallas).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SOCIAL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y páginas web falsas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maliciosos que replican la identidad visual de portales oficiales: logotipos, colores y formularios.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diferencia verificable suele ser la estructura del dominio web.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es clave revisar siempre la URL completa antes de ingresar datos.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directo con lo anterior: un enlace sospechoso casi siempre lleva a una de estas páginas falsas.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PHISHING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phishing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phishing: phishing tradicional por correo electrónico.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Smishing: mensajes SMS o de WhatsApp.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Vishing: phishing mediante llamadas telefónicas.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en redes sociales: mensajes privados, cuentas clonadas, ofertas irreales en perfiles falsos.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phishing (Quishing): manipulación de códigos QR en espacios públicos o documentos para redirigir a sitios maliciosos evitando filtros de correo.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PHISHING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estafa de la paquetería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121F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8803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 paquete no pudo ser entregado por falta de número de calle. Pague Q15.00 de reenvío aquí."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1127729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E5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SMS suplanta a Correos o DHL notificando que un paquete no puede ser entregado.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E5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redirige a una pasarela bancaria falsa para cobrar un supuesto reenvío de Q15.00.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E5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pagar, la víctima entrega los datos completos de su tarjeta.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E5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típico de smishing: aprovecha que muchas personas esperan compras o envíos.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PHISHING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Suplantación de identidad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60350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ilegítimo de la identidad de un conocido para explotar la confianza preexistente.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toma la foto de perfil pública de WhatsApp de una persona y escribe a sus contactos desde un número nuevo.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una transferencia urgente alegando una emergencia médica o la compra de divisa extranjera.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922215" cy="4663440"/>
          </a:xfrm>
          <a:prstGeom prst="roundRect">
            <a:avLst>
              <a:gd name="adj" fmla="val 1569"/>
            </a:avLst>
          </a:prstGeom>
          <a:solidFill>
            <a:srgbClr val="FBEAE8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1911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6831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92808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404872"/>
            <a:ext cx="43369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"Hola, soy tu familiar y cambié de número..."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04888" y="2971800"/>
            <a:ext cx="433699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prevención: verificar la identidad mediante un canal secundario.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llamar al número antiguo ya conocido, nunca al número nuevo del mensaje.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PHISHING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Estafas de compras en Internet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60350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falsas con descuentos desproporcionados, por ejemplo un teléfono de Q6,000 en Q1,000.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tiempo: "solo quedan 2 unidades".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 transferencias directas o pagos con tarjeta sin pasarela segura.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922215" cy="4663440"/>
          </a:xfrm>
          <a:prstGeom prst="roundRect">
            <a:avLst>
              <a:gd name="adj" fmla="val 1569"/>
            </a:avLst>
          </a:prstGeom>
          <a:solidFill>
            <a:srgbClr val="FBEAE8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1911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6831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92808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TIENDAS CLONADAS DE IG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404872"/>
            <a:ext cx="4336999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creadas recientemente invierten en anuncios pagados con productos de tendencia.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recibido el dinero, bloquean al comprador o envían un paquete vacío.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MFA, 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 y phishing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reutilización de contraseñas en múltiples plataformas permite ataques de Credential Stuffing.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base de datos de un sitio secundario es filtrada, los atacantes prueban esa misma combinación de correo y contraseña en correos corporativos, redes sociales y bancos.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usar contraseñas únicas por servicio.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MFA, 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multifactor (MFA/2FA)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60350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una segunda capa de seguridad combinando: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sabes (contraseña) · algo que tienes (teléfono o app) · algo que eres (biometría).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nunca compartir códigos OTP recibidos por SMS o aplicaciones.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922215" cy="4663440"/>
          </a:xfrm>
          <a:prstGeom prst="roundRect">
            <a:avLst>
              <a:gd name="adj" fmla="val 1569"/>
            </a:avLst>
          </a:prstGeom>
          <a:solidFill>
            <a:srgbClr val="FBEAE8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1911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6831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92808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BYPASS DE MFA (AiTM)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404872"/>
            <a:ext cx="4336999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como Evilginx interceptan en tiempo real la contraseña y el código MFA en una web falsa.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 la cookie de sesión y acceden sin conocer el código posterior.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MFA, 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servicios de soporte técnico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contacta a la víctima por llamada o mediante una ventana emergente en el navegador.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Alega una infección grave por virus para generar alarma.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lograr la instalación de software de acceso remoto, por ejemplo AnyDesk o TeamViewer.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ese acceso entra al sistema y a la banca en línea: por eso nunca hay que dar un código OTP ni instalar nada a pedido de una llamada que no iniciaste vos.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MFA, 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 la información personal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127729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 en redes sociales (cumpleaños, mascotas, lugares de estudio o trabajo) es recopilada mediante OSINT (Open Source Intelligence).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información se usa para construir perfilados precisos de ingeniería social.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■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revisar la privacidad de lo que se comparte públicamente.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MFA, 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y estafas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60350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optimiza los vectores de ataque: redacción impecable en cualquier idioma y deepfakes de audio y video.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cada vez más las señales tradicionales de alerta, como errores de redacción.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922215" cy="4663440"/>
          </a:xfrm>
          <a:prstGeom prst="roundRect">
            <a:avLst>
              <a:gd name="adj" fmla="val 1569"/>
            </a:avLst>
          </a:prstGeom>
          <a:solidFill>
            <a:srgbClr val="FBEAE8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1911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6831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92808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CLONACIÓN DE VOZ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404872"/>
            <a:ext cx="4336999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atacante clonó con IA la voz del director ejecutivo de una empresa.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Llamó al gerente de finanzas ordenando una transferencia de $243,000 a una cuenta de proveedor falso.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CANDADO HTTPS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¿El candado HTTPS significa que una página es segura?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11680"/>
            <a:ext cx="99971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indica únicamente que la comunicación entre el navegador y el servidor está cifrada.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garantiza que el dueño del sitio sea legítimo.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ciberdelincuentes obtienen certificados SSL gratuitos para sus sitios de phishing.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976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= Conexión cifrada  ≠  Sitio legítimo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prevenir las estafas digitales?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operativo de prevención se basa en la pausa táctica: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13584" cy="2011680"/>
          </a:xfrm>
          <a:prstGeom prst="roundRect">
            <a:avLst>
              <a:gd name="adj" fmla="val 2727"/>
            </a:avLst>
          </a:prstGeom>
          <a:solidFill>
            <a:srgbClr val="1B2A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DETENTE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actúes por impulso o presión.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70784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45104" y="2103120"/>
            <a:ext cx="2613584" cy="2011680"/>
          </a:xfrm>
          <a:prstGeom prst="roundRect">
            <a:avLst>
              <a:gd name="adj" fmla="val 2727"/>
            </a:avLst>
          </a:prstGeom>
          <a:solidFill>
            <a:srgbClr val="1B2A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7984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7984" y="269748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PIENSA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27984" y="320040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motivo y el contexto del mensaje.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5868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03120"/>
            <a:ext cx="2613584" cy="2011680"/>
          </a:xfrm>
          <a:prstGeom prst="roundRect">
            <a:avLst>
              <a:gd name="adj" fmla="val 2727"/>
            </a:avLst>
          </a:prstGeom>
          <a:solidFill>
            <a:srgbClr val="1B2A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5888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15888" y="269748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320040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 fuente por un canal independiente.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46591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20911" y="2103120"/>
            <a:ext cx="2613584" cy="2011680"/>
          </a:xfrm>
          <a:prstGeom prst="roundRect">
            <a:avLst>
              <a:gd name="adj" fmla="val 2727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03791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03791" y="269748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ACTÚA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03791" y="320040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 solo tras confirmar la autenticidad.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434840"/>
            <a:ext cx="112772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protocolo aplica a cualquier solicitud sensible: bancaria, de credenciales o de dinero.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por otro canal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60350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de cualquier solicitud sensible debe hacerse fuera de banda: un canal independiente y previamente confirmado.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■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usar el mismo enlace o número proporcionado en el mensaje sospechoso.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922215" cy="4663440"/>
          </a:xfrm>
          <a:prstGeom prst="roundRect">
            <a:avLst>
              <a:gd name="adj" fmla="val 1569"/>
            </a:avLst>
          </a:prstGeom>
          <a:solidFill>
            <a:srgbClr val="FBEAE8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1911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6831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892808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FRAUDE BEC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404872"/>
            <a:ext cx="4336999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Hackean el correo de un proveedor real e interceptan la conversación de una factura de $100,000.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Piden "cambiar la cuenta bancaria" en el mismo hilo. Sin llamar al número oficial, el dinero se pierde.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SI CAÍSTE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hacer si hiciste clic?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78628" cy="1737360"/>
          </a:xfrm>
          <a:prstGeom prst="roundRect">
            <a:avLst>
              <a:gd name="adj" fmla="val 3158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abriste la página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41448"/>
            <a:ext cx="49299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navegador de inmediato, no ingreses datos ni descargues archivos, revisa la carpeta de descargas.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783080"/>
            <a:ext cx="5478628" cy="1737360"/>
          </a:xfrm>
          <a:prstGeom prst="roundRect">
            <a:avLst>
              <a:gd name="adj" fmla="val 3158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1783080"/>
            <a:ext cx="73152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75908" y="1965960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Ingresaste contraseñas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75908" y="2441448"/>
            <a:ext cx="49299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Cámbialas de inmediato en ese servicio y en todos donde las reutilices, revoca sesiones activas y activa MFA.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78628" cy="1737360"/>
          </a:xfrm>
          <a:prstGeom prst="roundRect">
            <a:avLst>
              <a:gd name="adj" fmla="val 3158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49040"/>
            <a:ext cx="73152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Entregaste información bancaria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407408"/>
            <a:ext cx="49299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de inmediato las tarjetas y comunícate con la entidad financiera.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5868" y="3749040"/>
            <a:ext cx="5478628" cy="1737360"/>
          </a:xfrm>
          <a:prstGeom prst="roundRect">
            <a:avLst>
              <a:gd name="adj" fmla="val 3158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5868" y="3749040"/>
            <a:ext cx="73152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75908" y="3931920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Descargaste un archivo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575908" y="4407408"/>
            <a:ext cx="49299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 el dispositivo de la red (wifi o cable) y realiza un escaneo completo de antivirus.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SI CAÍSTE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hacer si enviaste dinero o te intentan estafar?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78628" cy="3657600"/>
          </a:xfrm>
          <a:prstGeom prst="roundRect">
            <a:avLst>
              <a:gd name="adj" fmla="val 150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enviaste dinero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492998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 de inmediato a tu banco o plataforma de pago para pedir la cancelación o congelamiento de la transacción.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las pruebas: capturas de pantalla, encabezados de correo, números de teléfono, comprobantes.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continúes la negociación con el estafador.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5868" y="1783080"/>
            <a:ext cx="5478628" cy="3657600"/>
          </a:xfrm>
          <a:prstGeom prst="roundRect">
            <a:avLst>
              <a:gd name="adj" fmla="val 1500"/>
            </a:avLst>
          </a:prstGeom>
          <a:solidFill>
            <a:srgbClr val="F7F7F8"/>
          </a:solidFill>
          <a:ln w="12700">
            <a:solidFill>
              <a:srgbClr val="E7E7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0188" y="19659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alguien intenta estafarte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2423160"/>
            <a:ext cx="492998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la cuenta en la plataforma correspondiente.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al departamento de TI si ocurre en el ámbito laboral.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a familiares o conocidos para evitar que el engaño se propague.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GRUPAL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para discusión — A y 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78628" cy="3794760"/>
          </a:xfrm>
          <a:prstGeom prst="roundRect">
            <a:avLst>
              <a:gd name="adj" fmla="val 1446"/>
            </a:avLst>
          </a:prstGeom>
          <a:solidFill>
            <a:srgbClr val="FBEA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38528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  </a:t>
            </a:r>
            <a:r>
              <a:rPr lang="en-US" sz="1250" b="1" kern="0" spc="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 explica Fabi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04288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"Banco: Detectamos un intento de inicio de sesión. Confirme su identidad haciendo clic en el siguiente enlace."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"señales de phishing": urgencia extrema y enlace sospechoso. Los bancos no piden validar credenciales por enlaces en SMS.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correcta: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el mensaje y entrar a la banca en línea desde la app oficial o escribiendo la URL manualmente.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1737360"/>
            <a:ext cx="5478628" cy="3794760"/>
          </a:xfrm>
          <a:prstGeom prst="roundRect">
            <a:avLst>
              <a:gd name="adj" fmla="val 1446"/>
            </a:avLst>
          </a:prstGeom>
          <a:solidFill>
            <a:srgbClr val="FB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0188" y="1938528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  </a:t>
            </a:r>
            <a:r>
              <a:rPr lang="en-US" sz="1250" b="1" kern="0" spc="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 explica Chivichón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2304288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"Hola, soy tu hermano. Cambié de número. Necesito Q500 urgentemente."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0188" y="315468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caso de suplantación de identidad que ella ya presentó, con una emergencia fabricada.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0188" y="434340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correcta: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directamente al número telefónico habitual del familiar para verificar.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GRUPAL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para discusión — C y 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78628" cy="3794760"/>
          </a:xfrm>
          <a:prstGeom prst="roundRect">
            <a:avLst>
              <a:gd name="adj" fmla="val 1446"/>
            </a:avLst>
          </a:prstGeom>
          <a:solidFill>
            <a:srgbClr val="FBEA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38528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  </a:t>
            </a:r>
            <a:r>
              <a:rPr lang="en-US" sz="1250" b="1" kern="0" spc="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 explica Guti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04288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"Has ganado Q15,000. Para recibir el dinero debes pagar Q300."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de "estafas de premios" que él ya presentó: pago por adelantado.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correcta: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la regla de oro: si debes pagar para recibir un premio que no solicitaste, es una estafa.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1737360"/>
            <a:ext cx="5478628" cy="3794760"/>
          </a:xfrm>
          <a:prstGeom prst="roundRect">
            <a:avLst>
              <a:gd name="adj" fmla="val 1446"/>
            </a:avLst>
          </a:prstGeom>
          <a:solidFill>
            <a:srgbClr val="FB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0188" y="1938528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  </a:t>
            </a:r>
            <a:r>
              <a:rPr lang="en-US" sz="1250" b="1" kern="0" spc="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 explica Sebas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2304288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paquete está retenido. Actualiza tus datos aquí."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0188" y="315468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"verificación por otro canal": aprovecha que muchas personas esperan compras en línea.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0188" y="4343400"/>
            <a:ext cx="49299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correcta: </a:t>
            </a: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estado del envío directamente en la página oficial de la empresa de transporte, con el número de rastreo original.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48095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GRUPAL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fundamentales de seguridad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6420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actúes por presión: la urgencia es una herramienta de manipulación.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7373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78728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73088" y="166420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compartas contraseñas bajo ninguna circunstancia o canal.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1576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compartas códigos de autenticación: son la llave final de tus cuentas.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8728" y="278892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78728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73088" y="271576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confiar, siempre por un canal alternativo.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76732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confíes únicamente en el diseño: las interfaces se clonan fácilmente.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8728" y="38404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78728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73088" y="376732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candado HTTPS no garantiza legitimidad: verifica el dominio exacto.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81888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parece demasiado bueno para ser verdad, es una estafa.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78728" y="48920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78728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481888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rápido ante el error: la velocidad de reporte mitiga el impacto.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2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7280" y="20116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 DE LA CAPACITACIÓN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51460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 estafadores no necesitan que seas ingenuo;</a:t>
            </a:r>
            <a:endParaRPr lang="en-US" sz="2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necesitan que actúes antes de pensar."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37760" y="4160520"/>
            <a:ext cx="228600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389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DETENTE   ·   PIENSA   ·   VERIFICA   ·   ACTÚA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Guti — Gracias, abrimos a preguntas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2445</Words>
  <Application>Microsoft Office PowerPoint</Application>
  <PresentationFormat>Panorámica</PresentationFormat>
  <Paragraphs>287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Estafas Digitales y Phishing</dc:title>
  <dc:subject>PptxGenJS Presentation</dc:subject>
  <dc:creator>Guti</dc:creator>
  <cp:lastModifiedBy>Sebastian Hernandez</cp:lastModifiedBy>
  <cp:revision>3</cp:revision>
  <dcterms:created xsi:type="dcterms:W3CDTF">2026-09-04T16:24:00Z</dcterms:created>
  <dcterms:modified xsi:type="dcterms:W3CDTF">2026-09-23T02:32:49Z</dcterms:modified>
</cp:coreProperties>
</file>